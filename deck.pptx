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2287877"/>
            <a:ext cx="4094605" cy="11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99" b="1" i="0">
                <a:solidFill>
                  <a:srgbClr val="FFFFFF"/>
                </a:solidFill>
                <a:latin typeface="Lato"/>
              </a:rPr>
              <a:t>Évaluer les risques professionnels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476" y="3636524"/>
            <a:ext cx="4433032" cy="91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9" b="0" i="0">
                <a:solidFill>
                  <a:srgbClr val="FFFFFF"/>
                </a:solidFill>
                <a:latin typeface="Lato"/>
              </a:rPr>
              <a:t>Transformez votre DUERP en outil de pilotage vivant, connecté à vos accidents réels.</a:t>
            </a:r>
          </a:p>
          <a:p>
            <a:pPr algn="l"/>
            <a:r>
              <a:rPr sz="1499" b="0" i="0">
                <a:solidFill>
                  <a:srgbClr val="FFFFFF"/>
                </a:solidFill>
                <a:latin typeface="Lato"/>
              </a:rPr>
              <a:t>Réduisez votre sinistralité et maîtrisez vos cotisations AT/MP.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849489"/>
            <a:ext cx="4746456" cy="1501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99" b="1" i="0">
                <a:solidFill>
                  <a:srgbClr val="0F172A"/>
                </a:solidFill>
                <a:latin typeface="Lato"/>
              </a:rPr>
              <a:t>Le DUERP n'est pas une formalité. C'est ce qui fait baisser vos accidents.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476" y="2720063"/>
            <a:ext cx="4504021" cy="750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La plupart des organisations remplissent le DUERP pour cocher l'obligation, puis le classent. Pourtant, c'est le seul document qui transforme vos risques en prévention concrète.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476" y="3755137"/>
            <a:ext cx="4830244" cy="4751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Un DUERP figé ne réduit aucun accident. Votre service de santé au travail suit vos visites médicales, mais ne fait pas vivre votre DUERP.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4524559"/>
            <a:ext cx="4756427" cy="792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9" b="0" i="0">
                <a:solidFill>
                  <a:srgbClr val="00456D"/>
                </a:solidFill>
                <a:latin typeface="Lato"/>
              </a:rPr>
              <a:t>Chez Ayming, nous croyons qu'un DUERP ne vaut que s'il est vivant : c'est ce qui fait baisser vos accidents, pas le fait de l'avoir rempli.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140" y="1800179"/>
            <a:ext cx="3145999" cy="16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F172A"/>
                </a:solidFill>
                <a:latin typeface="Lato"/>
              </a:rPr>
              <a:t>15,6%</a:t>
            </a:r>
          </a:p>
          <a:p>
            <a:pPr algn="l"/>
            <a:r>
              <a:rPr sz="1050" b="1" i="0">
                <a:solidFill>
                  <a:srgbClr val="0F172A"/>
                </a:solidFill>
                <a:latin typeface="Lato"/>
              </a:rPr>
              <a:t>des établissements transmettent leur DUERP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86402" y="4409964"/>
            <a:ext cx="1844976" cy="16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8" b="1" i="0">
                <a:solidFill>
                  <a:srgbClr val="0F172A"/>
                </a:solidFill>
                <a:latin typeface="Lato"/>
              </a:rPr>
              <a:t>40 ans</a:t>
            </a:r>
          </a:p>
          <a:p>
            <a:pPr algn="l"/>
            <a:r>
              <a:rPr sz="1048" b="1" i="0">
                <a:solidFill>
                  <a:srgbClr val="0F172A"/>
                </a:solidFill>
                <a:latin typeface="Lato"/>
              </a:rPr>
              <a:t>de conservation exigée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42158" y="813623"/>
            <a:ext cx="8688368" cy="9981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99" b="1" i="0">
                <a:solidFill>
                  <a:srgbClr val="0F172A"/>
                </a:solidFill>
                <a:latin typeface="Lato"/>
              </a:rPr>
              <a:t>Comment les organisations gèrent leur DUERP aujourd'hui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0721" y="4429163"/>
            <a:ext cx="2212274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9" b="1" i="0">
                <a:solidFill>
                  <a:srgbClr val="0DA4E8"/>
                </a:solidFill>
                <a:latin typeface="Lato"/>
              </a:rPr>
              <a:t>Le DUERP figé (Word / Excel)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80" y="4772054"/>
            <a:ext cx="3151356" cy="588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49" b="0" i="0">
                <a:solidFill>
                  <a:srgbClr val="6B7280"/>
                </a:solidFill>
                <a:latin typeface="Lato"/>
              </a:rPr>
              <a:t>Rempli une fois, jamais rouvert. Le DUERP existe mais reste un document mort, déconnecté des accidents réels et sans plan d'action suivi.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0072" y="4429163"/>
            <a:ext cx="2792392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9" b="1" i="0">
                <a:solidFill>
                  <a:srgbClr val="0DA4E8"/>
                </a:solidFill>
                <a:latin typeface="Lato"/>
              </a:rPr>
              <a:t>Le logiciel de conformité déconnecté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0623" y="4772054"/>
            <a:ext cx="3071289" cy="801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49" b="0" i="0">
                <a:solidFill>
                  <a:srgbClr val="6B7280"/>
                </a:solidFill>
                <a:latin typeface="Lato"/>
              </a:rPr>
              <a:t>Un outil, pas une réduction du risque. Plateforme QHSE en self-service, qui historise et coche des cases mais ignore vos accidents réels et n'agit pas à votre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60737" y="4429163"/>
            <a:ext cx="1490029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9" b="1" i="0">
                <a:solidFill>
                  <a:srgbClr val="0DA4E8"/>
                </a:solidFill>
                <a:latin typeface="Lato"/>
              </a:rPr>
              <a:t>Le cabinet ponctuel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3725" y="4772054"/>
            <a:ext cx="3044054" cy="588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49" b="0" i="0">
                <a:solidFill>
                  <a:srgbClr val="6B7280"/>
                </a:solidFill>
                <a:latin typeface="Lato"/>
              </a:rPr>
              <a:t>Un livrable, puis le silence. Un consultant révise le DUERP une fois. Le document est propre le jour de la remise, figé six mois plus tard.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9173" y="1152496"/>
            <a:ext cx="10654190" cy="9981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99" b="1" i="0">
                <a:solidFill>
                  <a:srgbClr val="0F172A"/>
                </a:solidFill>
                <a:latin typeface="Lato"/>
              </a:rPr>
              <a:t>Dans un monde idéal, voici ce que serait le pilotage de vos risques professionnels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6534" y="4387045"/>
            <a:ext cx="1644509" cy="1714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22" b="1" i="0">
                <a:solidFill>
                  <a:srgbClr val="0DA4E8"/>
                </a:solidFill>
                <a:latin typeface="Lato"/>
              </a:rPr>
              <a:t>Un DUERP toujours à jour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489" y="4691838"/>
            <a:ext cx="2430451" cy="3504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73" b="0" i="0">
                <a:solidFill>
                  <a:srgbClr val="6B7280"/>
                </a:solidFill>
                <a:latin typeface="Lato"/>
              </a:rPr>
              <a:t>L'évaluation reflète la réalité du terrain en continu, pas une photo annuelle vite périmée.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8417" y="4387045"/>
            <a:ext cx="1597332" cy="1714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22" b="1" i="0">
                <a:solidFill>
                  <a:srgbClr val="0DA4E8"/>
                </a:solidFill>
                <a:latin typeface="Lato"/>
              </a:rPr>
              <a:t>Connecté à vos accidents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3716" y="4691838"/>
            <a:ext cx="2166883" cy="548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73" b="0" i="0">
                <a:solidFill>
                  <a:srgbClr val="6B7280"/>
                </a:solidFill>
                <a:latin typeface="Lato"/>
              </a:rPr>
              <a:t>Les risques qui causent vraiment vos accidents sont identifiés et priorisés, pas noyés dans une liste générique.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9666" y="4387045"/>
            <a:ext cx="1731571" cy="1714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22" b="1" i="0">
                <a:solidFill>
                  <a:srgbClr val="0DA4E8"/>
                </a:solidFill>
                <a:latin typeface="Lato"/>
              </a:rPr>
              <a:t>Un plan d'action qui avance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6636" y="4691838"/>
            <a:ext cx="2217781" cy="548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73" b="0" i="0">
                <a:solidFill>
                  <a:srgbClr val="6B7280"/>
                </a:solidFill>
                <a:latin typeface="Lato"/>
              </a:rPr>
              <a:t>Les actions de prévention sont priorisées, suivies et tenues, pas oubliées dans un classeur.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3398" y="4387045"/>
            <a:ext cx="1620995" cy="1714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22" b="1" i="0">
                <a:solidFill>
                  <a:srgbClr val="0DA4E8"/>
                </a:solidFill>
                <a:latin typeface="Lato"/>
              </a:rPr>
              <a:t>Une sinistralité qui baisse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7261" y="4691838"/>
            <a:ext cx="2333120" cy="548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73" b="0" i="0">
                <a:solidFill>
                  <a:srgbClr val="6B7280"/>
                </a:solidFill>
                <a:latin typeface="Lato"/>
              </a:rPr>
              <a:t>Moins d'accidents, un coût AT/MP qui se maîtrise, une prévention qui se voit dans les chiffres.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13824" y="1982192"/>
            <a:ext cx="3944888" cy="9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149" b="1" i="0">
                <a:solidFill>
                  <a:srgbClr val="0F172A"/>
                </a:solidFill>
                <a:latin typeface="Lato"/>
              </a:rPr>
              <a:t>Piloter le DUERP et les risques professionnels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5595" y="3601401"/>
            <a:ext cx="1146692" cy="5429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599" b="1" i="0">
                <a:solidFill>
                  <a:srgbClr val="0DA4E8"/>
                </a:solidFill>
                <a:latin typeface="Lato"/>
              </a:rPr>
              <a:t>4,5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4332" y="4182412"/>
            <a:ext cx="1409367" cy="1428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9" b="1" i="0">
                <a:solidFill>
                  <a:srgbClr val="6B7280"/>
                </a:solidFill>
                <a:latin typeface="Lato"/>
              </a:rPr>
              <a:t>DE SALARIÉS COUVERTS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1828" y="3601401"/>
            <a:ext cx="1060820" cy="5429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6" b="1" i="0">
                <a:solidFill>
                  <a:srgbClr val="0DA4E8"/>
                </a:solidFill>
                <a:latin typeface="Lato"/>
              </a:rPr>
              <a:t>330+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6690" y="4182412"/>
            <a:ext cx="1431244" cy="1428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1" b="1" i="0">
                <a:solidFill>
                  <a:srgbClr val="6B7280"/>
                </a:solidFill>
                <a:latin typeface="Lato"/>
              </a:rPr>
              <a:t>CLIENTS ACCOMPAGNÉS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0609" y="3601401"/>
            <a:ext cx="795615" cy="5429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585" b="1" i="0">
                <a:solidFill>
                  <a:srgbClr val="0DA4E8"/>
                </a:solidFill>
                <a:latin typeface="Lato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0926" y="4182412"/>
            <a:ext cx="1014982" cy="1428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6" b="1" i="0">
                <a:solidFill>
                  <a:srgbClr val="6B7280"/>
                </a:solidFill>
                <a:latin typeface="Lato"/>
              </a:rPr>
              <a:t>ANS D'EXPERTISE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9846" y="3601401"/>
            <a:ext cx="897559" cy="5429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595" b="1" i="0">
                <a:solidFill>
                  <a:srgbClr val="0DA4E8"/>
                </a:solidFill>
                <a:latin typeface="Lato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38900" y="4182412"/>
            <a:ext cx="1379453" cy="1428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8" b="1" i="0">
                <a:solidFill>
                  <a:srgbClr val="6B7280"/>
                </a:solidFill>
                <a:latin typeface="Lato"/>
              </a:rPr>
              <a:t>DE RECOMMANDATION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8409" y="5068215"/>
            <a:ext cx="8675718" cy="792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9" b="0" i="0">
                <a:solidFill>
                  <a:srgbClr val="0F172A"/>
                </a:solidFill>
                <a:latin typeface="Lato"/>
              </a:rPr>
              <a:t>Acciline+ est le logiciel qui transforme votre DUERP en outil de pilotage vivant, alimenté par vos accidents réels, pour réduire votre sinistralité et maîtriser vos cotisations AT/MP. Le contenu du DUERP et les décisions de prévention restent de votre responsabilité.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49481" y="1750770"/>
            <a:ext cx="5073572" cy="49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97" b="1" i="0">
                <a:solidFill>
                  <a:srgbClr val="0F172A"/>
                </a:solidFill>
                <a:latin typeface="Lato"/>
              </a:rPr>
              <a:t>Ce qu'Ayming vous apporte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24041" y="2729886"/>
            <a:ext cx="3027237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9" b="1" i="0">
                <a:solidFill>
                  <a:srgbClr val="0F172A"/>
                </a:solidFill>
                <a:latin typeface="Lato"/>
              </a:rPr>
              <a:t>Un DUERP vivant, pas un document figé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041" y="3053727"/>
            <a:ext cx="3050304" cy="375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9" b="0" i="0">
                <a:solidFill>
                  <a:srgbClr val="6B7280"/>
                </a:solidFill>
                <a:latin typeface="Lato"/>
              </a:rPr>
              <a:t>Une évaluation tenue à jour en continu, structurée et exploitable.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7413" y="2729886"/>
            <a:ext cx="2324488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9" b="1" i="0">
                <a:solidFill>
                  <a:srgbClr val="0F172A"/>
                </a:solidFill>
                <a:latin typeface="Lato"/>
              </a:rPr>
              <a:t>Connecté à vos accidents réels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13" y="3053727"/>
            <a:ext cx="3492908" cy="375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9" b="0" i="0">
                <a:solidFill>
                  <a:srgbClr val="6B7280"/>
                </a:solidFill>
                <a:latin typeface="Lato"/>
              </a:rPr>
              <a:t>Une prévention pilotée par la réalité de votre sinistralité, pas par une liste générique.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041" y="3937447"/>
            <a:ext cx="3323546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9" b="1" i="0">
                <a:solidFill>
                  <a:srgbClr val="0F172A"/>
                </a:solidFill>
                <a:latin typeface="Lato"/>
              </a:rPr>
              <a:t>Un plan d'action piloté, pas une liste oubliée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4041" y="4261289"/>
            <a:ext cx="3158053" cy="16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9" b="0" i="0">
                <a:solidFill>
                  <a:srgbClr val="6B7280"/>
                </a:solidFill>
                <a:latin typeface="Lato"/>
              </a:rPr>
              <a:t>Des actions de prévention priorisées, suivies et tenues.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13" y="3937447"/>
            <a:ext cx="3020986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9" b="1" i="0">
                <a:solidFill>
                  <a:srgbClr val="0F172A"/>
                </a:solidFill>
                <a:latin typeface="Lato"/>
              </a:rPr>
              <a:t>Une prévention qui réduit vos accidents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413" y="4261289"/>
            <a:ext cx="3344530" cy="375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9" b="0" i="0">
                <a:solidFill>
                  <a:srgbClr val="6B7280"/>
                </a:solidFill>
                <a:latin typeface="Lato"/>
              </a:rPr>
              <a:t>Cibler les risques qui causent vos accidents et réduire leur fréquence.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1475445"/>
            <a:ext cx="4018110" cy="872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49" b="1" i="0">
                <a:solidFill>
                  <a:srgbClr val="0F172A"/>
                </a:solidFill>
                <a:latin typeface="Lato"/>
              </a:rPr>
              <a:t>Un DUERP vivant, pas un document figé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2516" y="2658301"/>
            <a:ext cx="4113655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Évaluation structurée par unité de travail, cotée en gravité, fréquence et maîtrise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2516" y="3334559"/>
            <a:ext cx="4481549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Chaque risque relié à ses équipements de protection (EPI) et ses fiches de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2516" y="4010817"/>
            <a:ext cx="4531256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Mise à jour en continu plutôt qu'une photo annuelle vite périmée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2516" y="4468006"/>
            <a:ext cx="3575506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Archivage et historisation des versions sur la durée réglementaire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1692579"/>
            <a:ext cx="4907335" cy="4381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49" b="1" i="0">
                <a:solidFill>
                  <a:srgbClr val="0F172A"/>
                </a:solidFill>
                <a:latin typeface="Lato"/>
              </a:rPr>
              <a:t>Connecté à vos accidents réels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2516" y="2441166"/>
            <a:ext cx="4447914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L'évaluation se nourrit de vos événements et remontées terrain, pas d'une liste générique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2516" y="3117424"/>
            <a:ext cx="4423061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Les risques qui causent réellement vos accidents sont identifiés et priorisés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2516" y="3793682"/>
            <a:ext cx="4063947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Un lien possible avec vos données AT/MP via l'écosystème Acciline+, en 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2516" y="4469940"/>
            <a:ext cx="4450147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Une vue consolidée multi-sites pour homogénéiser la démarche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1584979"/>
            <a:ext cx="4312931" cy="872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49" b="1" i="0">
                <a:solidFill>
                  <a:srgbClr val="0F172A"/>
                </a:solidFill>
                <a:latin typeface="Lato"/>
              </a:rPr>
              <a:t>Un plan d'action piloté, pas une liste oubliée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2516" y="2767836"/>
            <a:ext cx="4036117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Programme d'actions priorisé selon la criticité des risques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2516" y="3225024"/>
            <a:ext cx="4183751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Suivi de l'exécution des actions dans le temps, par site et par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2516" y="3901282"/>
            <a:ext cx="3313724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Tableaux de bord de la démarche de prévention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2516" y="4358471"/>
            <a:ext cx="4295072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Traçabilité complète pour vos échanges avec l'inspection et le SPST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476" y="1475445"/>
            <a:ext cx="4771012" cy="872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49" b="1" i="0">
                <a:solidFill>
                  <a:srgbClr val="0F172A"/>
                </a:solidFill>
                <a:latin typeface="Lato"/>
              </a:rPr>
              <a:t>Une prévention qui réduit vos accidents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2516" y="2658301"/>
            <a:ext cx="4424102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Cibler les risques qui causent réellement vos accidents, pas une liste générique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2516" y="3334559"/>
            <a:ext cx="4389426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Réduire la fréquence et la gravité des accidents par des actions priorisées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2516" y="4010817"/>
            <a:ext cx="4346119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Mesurer l'effet de votre prévention dans le temps, site par 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2516" y="4468006"/>
            <a:ext cx="4226017" cy="4429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0F172A"/>
                </a:solidFill>
                <a:latin typeface="Lato"/>
              </a:rPr>
              <a:t>Une démarche que vous pouvez présenter à votre service de santé au travail et à l'inspection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5493" y="1135381"/>
            <a:ext cx="9241548" cy="49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300" b="1" i="0">
                <a:solidFill>
                  <a:srgbClr val="0F172A"/>
                </a:solidFill>
                <a:latin typeface="Lato"/>
              </a:rPr>
              <a:t>Aller plus loin dans votre démarche de prévention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130" y="2986012"/>
            <a:ext cx="6574913" cy="22658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Découvrir cette offre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EN OPTION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Gestion des AT/MP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/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Déclarer, défendre et piloter vos AT/MP, l'aval naturel d'une prévention pilotée.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/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Découvrir cette offre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EN OPTION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Gérer les visites médicales</a:t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/>
            </a:r>
          </a:p>
          <a:p>
            <a:pPr algn="ctr"/>
            <a:r>
              <a:rPr sz="1199" b="0" i="0">
                <a:solidFill>
                  <a:srgbClr val="0F172A"/>
                </a:solidFill>
                <a:latin typeface="Lato"/>
              </a:rPr>
              <a:t>Externaliser le suivi des visites médicales, le maillon santé au travail de votre prévention.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85150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04140" y="1243874"/>
            <a:ext cx="4164404" cy="49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301" b="1" i="0">
                <a:solidFill>
                  <a:srgbClr val="0F172A"/>
                </a:solidFill>
                <a:latin typeface="Lato"/>
              </a:rPr>
              <a:t>Ils nous font confiance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23" y="2251564"/>
            <a:ext cx="1142971" cy="2285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9" b="0" i="0">
                <a:solidFill>
                  <a:srgbClr val="FBBF24"/>
                </a:solidFill>
                <a:latin typeface="Lato"/>
              </a:rPr>
              <a:t>★★★★★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4417" y="2784951"/>
            <a:ext cx="4672193" cy="5524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9" b="0" i="1">
                <a:solidFill>
                  <a:srgbClr val="0F172A"/>
                </a:solidFill>
                <a:latin typeface="Lato"/>
              </a:rPr>
              <a:t>Une des spécificités les plus utiles de la plate-forme est l'accès à l'information de manière instantanée.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23" y="3651704"/>
            <a:ext cx="902024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45" b="1" i="0">
                <a:solidFill>
                  <a:srgbClr val="0F172A"/>
                </a:solidFill>
                <a:latin typeface="Lato"/>
              </a:rPr>
              <a:t>Paul Bichon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23" y="3899348"/>
            <a:ext cx="4071240" cy="16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9" b="0" i="0">
                <a:solidFill>
                  <a:srgbClr val="6B7280"/>
                </a:solidFill>
                <a:latin typeface="Lato"/>
              </a:rPr>
              <a:t>Responsable Sécurité du Personnel et Environnement, Euro Cargo 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6318" y="4899448"/>
            <a:ext cx="1091775" cy="16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47" b="1" i="0">
                <a:solidFill>
                  <a:srgbClr val="FFFFFF"/>
                </a:solidFill>
                <a:latin typeface="Lato"/>
              </a:rPr>
              <a:t>Lire le témoignage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7723" y="1610428"/>
            <a:ext cx="3449898" cy="9981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99" b="1" i="0">
                <a:solidFill>
                  <a:srgbClr val="0F172A"/>
                </a:solidFill>
                <a:latin typeface="Lato"/>
              </a:rPr>
              <a:t>Un fort ancrage en France...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23" y="2911451"/>
            <a:ext cx="4298197" cy="7503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Nos équipes locales accompagnent au quotidien nos clients dans leur développement et leurs transformations en s'appuyant sur un écosystème de professionnels en régions 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23" y="3736980"/>
            <a:ext cx="4285845" cy="102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experts scientifiques, experts comptables, établissements bancaires, pôles de compétitivité, fédérations professionnelles, avec un maillage de cabinets d'avocats et de médecins indépendants.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36899" y="516420"/>
            <a:ext cx="9698737" cy="9981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99" b="1" i="0">
                <a:solidFill>
                  <a:srgbClr val="0F172A"/>
                </a:solidFill>
                <a:latin typeface="Lato"/>
              </a:rPr>
              <a:t>... avec des bureaux dans 14 pays pour une proximité accrue avec nos clients et leur écosystème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00231" y="555859"/>
            <a:ext cx="4972223" cy="49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300" b="1" i="0">
                <a:solidFill>
                  <a:srgbClr val="0F172A"/>
                </a:solidFill>
                <a:latin typeface="Lato"/>
              </a:rPr>
              <a:t>Questions qu'on nous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6378" y="1930252"/>
            <a:ext cx="1952873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1" i="0">
                <a:solidFill>
                  <a:srgbClr val="0DA4E8"/>
                </a:solidFill>
                <a:latin typeface="Lato"/>
              </a:rPr>
              <a:t>Nous avons déjà un DUERP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6338" y="2335054"/>
            <a:ext cx="4200568" cy="657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4" b="0" i="0">
                <a:solidFill>
                  <a:srgbClr val="6B7280"/>
                </a:solidFill>
                <a:latin typeface="Lato"/>
              </a:rPr>
              <a:t>La question n'est pas d'avoir un DUERP, c'est qu'il soit vivant. Un document rempli une fois puis classé ne réduit aucun risque. Notre logiciel le maintient à jour en continu et le relie à vos accidents réels.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86442" y="1930252"/>
            <a:ext cx="3479663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1" i="0">
                <a:solidFill>
                  <a:srgbClr val="0DA4E8"/>
                </a:solidFill>
                <a:latin typeface="Lato"/>
              </a:rPr>
              <a:t>Est-ce que vous rédigez le DUERP à notre place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86402" y="2335054"/>
            <a:ext cx="3911105" cy="657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4" b="0" i="0">
                <a:solidFill>
                  <a:srgbClr val="6B7280"/>
                </a:solidFill>
                <a:latin typeface="Lato"/>
              </a:rPr>
              <a:t>Non. Le logiciel outille et accompagne le pilotage de votre démarche. Le contenu du DUERP et les décisions de prévention restent de votre responsabilité.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6378" y="4144759"/>
            <a:ext cx="2249778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1" i="0">
                <a:solidFill>
                  <a:srgbClr val="0DA4E8"/>
                </a:solidFill>
                <a:latin typeface="Lato"/>
              </a:rPr>
              <a:t>En quoi est-ce lié à nos AT/MP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6338" y="4549561"/>
            <a:ext cx="4043410" cy="9000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4" b="0" i="0">
                <a:solidFill>
                  <a:srgbClr val="6B7280"/>
                </a:solidFill>
                <a:latin typeface="Lato"/>
              </a:rPr>
              <a:t>Le logiciel relie l'évaluation des risques à votre sinistralité réelle (écosystème Acciline+). Les risques qui causent vraiment vos accidents sont priorisés, et la prévention ciblée nourrit la maîtrise de votre taux AT/MP.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6442" y="4144759"/>
            <a:ext cx="2775575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1" i="0">
                <a:solidFill>
                  <a:srgbClr val="0DA4E8"/>
                </a:solidFill>
                <a:latin typeface="Lato"/>
              </a:rPr>
              <a:t>Faut-il tout ressaisir pour chaque site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6402" y="4549561"/>
            <a:ext cx="3971081" cy="657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4" b="0" i="0">
                <a:solidFill>
                  <a:srgbClr val="6B7280"/>
                </a:solidFill>
                <a:latin typeface="Lato"/>
              </a:rPr>
              <a:t>Non. Vous créez, dupliquez et mettez à jour vos évaluations d'un site à l'autre, et les actions correctives sont suivies en temps réel avec des alertes sur les échéances.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22108" y="415368"/>
            <a:ext cx="4928320" cy="49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302" b="1" i="0">
                <a:solidFill>
                  <a:srgbClr val="0F172A"/>
                </a:solidFill>
                <a:latin typeface="Lato"/>
              </a:rPr>
              <a:t>Ce dont nous avons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86042" y="1823098"/>
            <a:ext cx="3363580" cy="257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49" b="1" i="0">
                <a:solidFill>
                  <a:srgbClr val="0F172A"/>
                </a:solidFill>
                <a:latin typeface="Lato"/>
              </a:rPr>
              <a:t>Pour cadrer votre démarche DUERP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24181" y="2551743"/>
            <a:ext cx="3339470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Périmètre des sites et unités de travail à couvrir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24181" y="3132753"/>
            <a:ext cx="4103237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Votre DUERP actuel et vos supports d'évaluation existants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24181" y="3713764"/>
            <a:ext cx="3318486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Vos données AT/MP récentes (sinistralité, taux)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4181" y="4294774"/>
            <a:ext cx="3365663" cy="2000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4" b="0" i="0">
                <a:solidFill>
                  <a:srgbClr val="6B7280"/>
                </a:solidFill>
                <a:latin typeface="Lato"/>
              </a:rPr>
              <a:t>Interlocuteur RH ou HSE/QHSE pour le pilotage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332" y="5613954"/>
            <a:ext cx="7340019" cy="209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9" b="1" i="0">
                <a:solidFill>
                  <a:srgbClr val="00456D"/>
                </a:solidFill>
                <a:latin typeface="Lato"/>
              </a:rPr>
              <a:t>Prochaine étape : un échange de 30 minutes pour cadrer le diagnostic de votre démarche DUERP.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